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开场：三部曲是写给未来的三封信——牵挂、专注、以及尚未命名的远方。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把「星火」拆成三个层次：开始、延续、扩散。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三个作品分别是：守护牵挂、训练专注、尚未命名。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第一部解决的是「每天记得发消息」这件小事。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是第二层：让机械的续火花变得像人写的。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第二部把「专注」从意志力问题，变成设计问题。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闭环：点火 → 计时与判例 → 国策稳态。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版本不是炫耀，是每一轮把问题修好的记录。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结尾留一个开放的问题，而不是一个总结。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收尾：站点地址与三部曲定位。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02655" y="1060704"/>
            <a:ext cx="786384" cy="786384"/>
          </a:xfrm>
          <a:prstGeom prst="ellipse">
            <a:avLst/>
          </a:prstGeom>
          <a:noFill/>
          <a:ln w="11430">
            <a:solidFill>
              <a:srgbClr val="E6AD45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on 3"/>
          <p:cNvSpPr/>
          <p:nvPr/>
        </p:nvSpPr>
        <p:spPr>
          <a:xfrm rot="12000000">
            <a:off x="5891387" y="1217980"/>
            <a:ext cx="283098" cy="330281"/>
          </a:xfrm>
          <a:prstGeom prst="moon">
            <a:avLst/>
          </a:prstGeom>
          <a:solidFill>
            <a:srgbClr val="F6D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6095847" y="1406712"/>
            <a:ext cx="235915" cy="235915"/>
          </a:xfrm>
          <a:prstGeom prst="star4">
            <a:avLst/>
          </a:prstGeom>
          <a:solidFill>
            <a:srgbClr val="F26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 spc="42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ESTY  · 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95728"/>
            <a:ext cx="121916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5800" b="1" i="0" spc="3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星火三部曲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9300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spc="14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东风夜放花千树，更吹落，星如雨。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4164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 spc="6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从一份牵挂，到一段专注，再到更远的远方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 spc="200">
                <a:solidFill>
                  <a:srgbClr val="FF9A5A"/>
                </a:solidFill>
                <a:latin typeface="Noto Serif SC"/>
                <a:ea typeface="Noto Serif SC"/>
                <a:cs typeface="Noto Serif SC"/>
              </a:rPr>
              <a:t>星 星 之 火  ·  可 以 燎 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05332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 i="0" spc="20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STARFIRE TRILOGY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01  /  何 为 星 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微小的开始，燎原的复利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84831"/>
            <a:ext cx="3291840" cy="2697480"/>
          </a:xfrm>
          <a:prstGeom prst="roundRect">
            <a:avLst>
              <a:gd name="adj" fmla="val 16000"/>
            </a:avLst>
          </a:prstGeom>
          <a:solidFill>
            <a:srgbClr val="122449">
              <a:alpha val="42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7864" y="235915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2907792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spc="30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星火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3310128"/>
            <a:ext cx="2633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微小而珍贵的开始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3858768"/>
            <a:ext cx="26334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一段火花、一次专注、一个习惯——任何宏大的改变，都始于不被看见的星火。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084831"/>
            <a:ext cx="3291840" cy="2697480"/>
          </a:xfrm>
          <a:prstGeom prst="roundRect">
            <a:avLst>
              <a:gd name="adj" fmla="val 16000"/>
            </a:avLst>
          </a:prstGeom>
          <a:solidFill>
            <a:srgbClr val="122449">
              <a:alpha val="42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235915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2907792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spc="30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续燃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3310128"/>
            <a:ext cx="2633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坚持是最大的杠杆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3858768"/>
            <a:ext cx="26334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火种的价值在于延续。日复一日地续上火花、守住专注，时间自会给出答案。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084831"/>
            <a:ext cx="3291840" cy="2697480"/>
          </a:xfrm>
          <a:prstGeom prst="roundRect">
            <a:avLst>
              <a:gd name="adj" fmla="val 16000"/>
            </a:avLst>
          </a:prstGeom>
          <a:solidFill>
            <a:srgbClr val="122449">
              <a:alpha val="42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35915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907792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 spc="30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燎原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3310128"/>
            <a:ext cx="2633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由点及面的成长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858768"/>
            <a:ext cx="26334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一部作品是一颗火种，三部曲连成一片原野。记录技术成长与生活热爱。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303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C98A2B"/>
                </a:solidFill>
                <a:latin typeface="Noto Serif SC"/>
                <a:ea typeface="Noto Serif SC"/>
                <a:cs typeface="Noto Serif SC"/>
              </a:rPr>
              <a:t>星火不是宏大的宣言，而是一次次可以被重复的小动作。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02  /  三 部 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一条关于「时间」的主线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10469880" cy="1152144"/>
          </a:xfrm>
          <a:prstGeom prst="roundRect">
            <a:avLst>
              <a:gd name="adj" fmla="val 16000"/>
            </a:avLst>
          </a:prstGeom>
          <a:solidFill>
            <a:srgbClr val="122449">
              <a:alpha val="34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24942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9456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星火续火花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151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4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STARFIRE · STREAK KEEPER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267712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云端守护抖音火花，把每天一句问候交给程序。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19" y="2432304"/>
            <a:ext cx="91440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A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已上线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83280"/>
            <a:ext cx="10469880" cy="1152144"/>
          </a:xfrm>
          <a:prstGeom prst="roundRect">
            <a:avLst>
              <a:gd name="adj" fmla="val 16000"/>
            </a:avLst>
          </a:prstGeom>
          <a:solidFill>
            <a:srgbClr val="122449">
              <a:alpha val="34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63931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8444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星火专注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005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4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STARFIRE · FOCUS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6576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三种启动协议、判例簿、静场与国策树，把专注变成可训练的系统。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19" y="3822191"/>
            <a:ext cx="91440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6A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v0.6.0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73168"/>
            <a:ext cx="10469880" cy="1152144"/>
          </a:xfrm>
          <a:prstGeom prst="roundRect">
            <a:avLst>
              <a:gd name="adj" fmla="val 16000"/>
            </a:avLst>
          </a:prstGeom>
          <a:solidFill>
            <a:srgbClr val="122449">
              <a:alpha val="34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50292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97433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第三部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94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4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TO BE CONTINUED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504748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火已燎原，方向未定；下一簇火，值得被认真点燃。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19" y="5212080"/>
            <a:ext cx="91440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9FB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构思中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第 一 部  /  星 火 续 火 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让每一段牵挂，不断线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12848"/>
            <a:ext cx="100584" cy="100584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11226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云端 24 小时待命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47802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关机、断网都不影响；多账号独立定时，并发自动排队。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19856"/>
            <a:ext cx="100584" cy="100584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3192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火花四态精准识别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68503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已续 / 待续 / 重燃 / 未点亮，一眼看清今天谁还差一句。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626864"/>
            <a:ext cx="100584" cy="100584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5262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日志可视化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8920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按级别着色、可搜索、只看错误，排查不再大海捞针。</a:t>
            </a:r>
          </a:p>
        </p:txBody>
      </p:sp>
      <p:pic>
        <p:nvPicPr>
          <p:cNvPr id="14" name="Picture 13" descr="str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5074920" cy="3346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1389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火花守护榜与当日状态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5715000"/>
            <a:ext cx="14173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V1.0 → V5.0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715000"/>
            <a:ext cx="123444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云端挂机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第 一 部  /  A I  引 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让问候有温度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续火花的智能中枢——不再只是冷冰冰的一个表情。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3291840" cy="2057400"/>
          </a:xfrm>
          <a:prstGeom prst="roundRect">
            <a:avLst>
              <a:gd name="adj" fmla="val 16000"/>
            </a:avLst>
          </a:prstGeom>
          <a:solidFill>
            <a:srgbClr val="122449">
              <a:alpha val="42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1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761488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日常问候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3200400"/>
            <a:ext cx="26700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每天现写一句、不重样的问候；失败或超时自动回退本地语库，绝不漏发。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240280"/>
            <a:ext cx="3291840" cy="2057400"/>
          </a:xfrm>
          <a:prstGeom prst="roundRect">
            <a:avLst>
              <a:gd name="adj" fmla="val 16000"/>
            </a:avLst>
          </a:prstGeom>
          <a:solidFill>
            <a:srgbClr val="122449">
              <a:alpha val="42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1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761488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新闻早报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200400"/>
            <a:ext cx="26700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早安 + 好友城市真实天气 + 当天新闻，按你的语气润色成专属早报。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2240280"/>
            <a:ext cx="3291840" cy="2057400"/>
          </a:xfrm>
          <a:prstGeom prst="roundRect">
            <a:avLst>
              <a:gd name="adj" fmla="val 16000"/>
            </a:avLst>
          </a:prstGeom>
          <a:solidFill>
            <a:srgbClr val="122449">
              <a:alpha val="42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1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61488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智能接话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00400"/>
            <a:ext cx="26700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读对方最近几条消息顺着回，像朋友一样自然；红灯话题引导到微信。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隐私与安全：使用你自己的接口 Key，Key 只存在你的服务器（不进备份、不进日志）；接话模式对方消息只当次临时读取，不落盘。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第 二 部  /  星 火 专 注  P r 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把「开始」拆成三种协议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12848"/>
            <a:ext cx="100584" cy="100584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1122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协议点火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478024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立即开始、5 分钟侦查或预约入座，先跨过启动阻力。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19856"/>
            <a:ext cx="100584" cy="100584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3192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计时 · 判例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68503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时间戳防漂移；早停时断链，或立为永久判例。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626864"/>
            <a:ext cx="100584" cy="100584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5262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国策 · 稳态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8920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每天最多点亮一条规则，用内化进度改写默认状态。</a:t>
            </a:r>
          </a:p>
        </p:txBody>
      </p:sp>
      <p:pic>
        <p:nvPicPr>
          <p:cNvPr id="14" name="Picture 13" descr="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120640" cy="33741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17550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v0.6.0 点火页 · 协议与本地静场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715000"/>
            <a:ext cx="11887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可安装 PWA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5824" y="5715000"/>
            <a:ext cx="146304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数据只留本机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5715000"/>
            <a:ext cx="1170432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 i="0" spc="6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v0.6.0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第 二 部  /  核 心 闭 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从一小时，走向长期稳态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12848"/>
            <a:ext cx="3063240" cy="1938528"/>
          </a:xfrm>
          <a:prstGeom prst="roundRect">
            <a:avLst>
              <a:gd name="adj" fmla="val 16000"/>
            </a:avLst>
          </a:prstGeom>
          <a:solidFill>
            <a:srgbClr val="122449">
              <a:alpha val="30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957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1635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协议点火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55264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把决定变成动作：选一种协议，先坐下。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30906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12848"/>
            <a:ext cx="3063240" cy="1938528"/>
          </a:xfrm>
          <a:prstGeom prst="roundRect">
            <a:avLst>
              <a:gd name="adj" fmla="val 16000"/>
            </a:avLst>
          </a:prstGeom>
          <a:solidFill>
            <a:srgbClr val="122449">
              <a:alpha val="30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3957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1635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计时 · 判例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55264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早停不留退路：断链，或写成永久判例。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7" y="30906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2212848"/>
            <a:ext cx="3063240" cy="1938528"/>
          </a:xfrm>
          <a:prstGeom prst="roundRect">
            <a:avLst>
              <a:gd name="adj" fmla="val 16000"/>
            </a:avLst>
          </a:prstGeom>
          <a:solidFill>
            <a:srgbClr val="122449">
              <a:alpha val="30000"/>
            </a:srgbClr>
          </a:solidFill>
          <a:ln w="9525">
            <a:solidFill>
              <a:srgbClr val="2C3E68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3957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E6AD45"/>
                </a:solidFill>
                <a:latin typeface="Noto Serif SC"/>
                <a:ea typeface="Noto Serif SC"/>
                <a:cs typeface="Noto Serif SC"/>
              </a:rPr>
              <a:t>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81635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国策 · 稳态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55264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每天点亮一条规则，慢慢改写默认状态。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1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先让身体坐下，再等状态出现。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启动协议与判例机制受 edmond《如何提高自制力？》中 CTDP / RSIP 方法启发。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566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22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0 4  /  星 火 年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 spc="1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两个作品，一条向上的线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第一部 · 星火续火花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2026 · 秋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07208"/>
            <a:ext cx="91440" cy="91440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69748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2688336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诞生：只有续火花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20440"/>
            <a:ext cx="91440" cy="91440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10712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4015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语料库与节日应景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233672"/>
            <a:ext cx="91440" cy="91440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12394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V3.0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4114800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一键上云 + AI 问候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946904"/>
            <a:ext cx="91440" cy="91440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83717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V4.0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9112" y="4828032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四态识别与守夜人告警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660136"/>
            <a:ext cx="91440" cy="91440"/>
          </a:xfrm>
          <a:prstGeom prst="ellipse">
            <a:avLst/>
          </a:prstGeom>
          <a:solidFill>
            <a:srgbClr val="E6A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555040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E6AD45"/>
                </a:solidFill>
                <a:latin typeface="Microsoft YaHei"/>
                <a:ea typeface="Microsoft YaHei"/>
                <a:cs typeface="Microsoft YaHei"/>
              </a:rPr>
              <a:t>V5.0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5541264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最终版：日志与移动端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74519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EEF3FF"/>
                </a:solidFill>
                <a:latin typeface="Noto Serif SC"/>
                <a:ea typeface="Noto Serif SC"/>
                <a:cs typeface="Noto Serif SC"/>
              </a:rPr>
              <a:t>第二部 · 星火专注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128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2026 · 秋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2807208"/>
            <a:ext cx="91440" cy="91440"/>
          </a:xfrm>
          <a:prstGeom prst="ellipse">
            <a:avLst/>
          </a:prstGeom>
          <a:solidFill>
            <a:srgbClr val="FF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69748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FF9A5A"/>
                </a:solidFill>
                <a:latin typeface="Microsoft YaHei"/>
                <a:ea typeface="Microsoft YaHei"/>
                <a:cs typeface="Microsoft YaHei"/>
              </a:rPr>
              <a:t>v0.1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2688336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立项：月夜星火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0" y="3520440"/>
            <a:ext cx="91440" cy="91440"/>
          </a:xfrm>
          <a:prstGeom prst="ellipse">
            <a:avLst/>
          </a:prstGeom>
          <a:solidFill>
            <a:srgbClr val="FF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3410712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FF9A5A"/>
                </a:solidFill>
                <a:latin typeface="Microsoft YaHei"/>
                <a:ea typeface="Microsoft YaHei"/>
                <a:cs typeface="Microsoft YaHei"/>
              </a:rPr>
              <a:t>v0.3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34015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星图 · 统计 · 备份</a:t>
            </a:r>
          </a:p>
        </p:txBody>
      </p:sp>
      <p:sp>
        <p:nvSpPr>
          <p:cNvPr id="30" name="Oval 29"/>
          <p:cNvSpPr/>
          <p:nvPr/>
        </p:nvSpPr>
        <p:spPr>
          <a:xfrm>
            <a:off x="6126480" y="4233672"/>
            <a:ext cx="91440" cy="91440"/>
          </a:xfrm>
          <a:prstGeom prst="ellipse">
            <a:avLst/>
          </a:prstGeom>
          <a:solidFill>
            <a:srgbClr val="FF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12394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FF9A5A"/>
                </a:solidFill>
                <a:latin typeface="Microsoft YaHei"/>
                <a:ea typeface="Microsoft YaHei"/>
                <a:cs typeface="Microsoft YaHei"/>
              </a:rPr>
              <a:t>v0.4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114800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协议点火 · 判例簿</a:t>
            </a:r>
          </a:p>
        </p:txBody>
      </p:sp>
      <p:sp>
        <p:nvSpPr>
          <p:cNvPr id="33" name="Oval 32"/>
          <p:cNvSpPr/>
          <p:nvPr/>
        </p:nvSpPr>
        <p:spPr>
          <a:xfrm>
            <a:off x="6126480" y="4946904"/>
            <a:ext cx="91440" cy="91440"/>
          </a:xfrm>
          <a:prstGeom prst="ellipse">
            <a:avLst/>
          </a:prstGeom>
          <a:solidFill>
            <a:srgbClr val="FF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483717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FF9A5A"/>
                </a:solidFill>
                <a:latin typeface="Microsoft YaHei"/>
                <a:ea typeface="Microsoft YaHei"/>
                <a:cs typeface="Microsoft YaHei"/>
              </a:rPr>
              <a:t>v0.5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4828032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静场 · 品牌统一</a:t>
            </a:r>
          </a:p>
        </p:txBody>
      </p:sp>
      <p:sp>
        <p:nvSpPr>
          <p:cNvPr id="36" name="Oval 35"/>
          <p:cNvSpPr/>
          <p:nvPr/>
        </p:nvSpPr>
        <p:spPr>
          <a:xfrm>
            <a:off x="6126480" y="5660136"/>
            <a:ext cx="91440" cy="91440"/>
          </a:xfrm>
          <a:prstGeom prst="ellipse">
            <a:avLst/>
          </a:prstGeom>
          <a:solidFill>
            <a:srgbClr val="FF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555040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 spc="80">
                <a:solidFill>
                  <a:srgbClr val="FF9A5A"/>
                </a:solidFill>
                <a:latin typeface="Microsoft YaHei"/>
                <a:ea typeface="Microsoft YaHei"/>
                <a:cs typeface="Microsoft YaHei"/>
              </a:rPr>
              <a:t>v0.6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6912" y="5541264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国策树 · 长期稳态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812383" y="1024128"/>
            <a:ext cx="566928" cy="566928"/>
          </a:xfrm>
          <a:prstGeom prst="ellipse">
            <a:avLst/>
          </a:prstGeom>
          <a:noFill/>
          <a:ln w="11430">
            <a:solidFill>
              <a:srgbClr val="E6AD45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on 3"/>
          <p:cNvSpPr/>
          <p:nvPr/>
        </p:nvSpPr>
        <p:spPr>
          <a:xfrm rot="12000000">
            <a:off x="5948446" y="1137513"/>
            <a:ext cx="204094" cy="238109"/>
          </a:xfrm>
          <a:prstGeom prst="moon">
            <a:avLst/>
          </a:prstGeom>
          <a:solidFill>
            <a:srgbClr val="F6D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6095847" y="1273576"/>
            <a:ext cx="170078" cy="170078"/>
          </a:xfrm>
          <a:prstGeom prst="star4">
            <a:avLst/>
          </a:prstGeom>
          <a:solidFill>
            <a:srgbClr val="F26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4708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 spc="30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第 三 部  ·  构 思 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926561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700" b="1" i="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当技术把创造的火种递给普通人，</a:t>
            </a:r>
          </a:p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2700" b="1" i="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我们究竟能用它点亮什么？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315968"/>
            <a:ext cx="9265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第三部写什么，我还没想好。但火种已经埋下。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C98A2B"/>
                </a:solidFill>
                <a:latin typeface="Noto Serif SC"/>
                <a:ea typeface="Noto Serif SC"/>
                <a:cs typeface="Noto Serif SC"/>
              </a:rPr>
              <a:t>—— Esty，写于星火燎原的秋夜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 spc="12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212848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000" b="1" i="0" spc="200">
                <a:solidFill>
                  <a:srgbClr val="F6DC9B"/>
                </a:solidFill>
                <a:latin typeface="Noto Serif SC"/>
                <a:ea typeface="Noto Serif SC"/>
                <a:cs typeface="Noto Serif SC"/>
              </a:rPr>
              <a:t>星星之火，可以燎原。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1012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愿你不忘来时的星火，也敢追更远的原野。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0740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E6AD45"/>
                </a:solidFill>
                <a:latin typeface="Consolas"/>
                <a:ea typeface="Consolas"/>
                <a:cs typeface="Consolas"/>
              </a:rPr>
              <a:t>beeasy-l.github.io/starspark-trilogy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006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9FB2D8"/>
                </a:solidFill>
                <a:latin typeface="Microsoft YaHei"/>
                <a:ea typeface="Microsoft YaHei"/>
                <a:cs typeface="Microsoft YaHei"/>
              </a:rPr>
              <a:t>第一部 星火续火花   ·   第二部 星火专注 Pro   ·   第三部 待定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 i="0" spc="200">
                <a:solidFill>
                  <a:srgbClr val="C98A2B"/>
                </a:solidFill>
                <a:latin typeface="Microsoft YaHei"/>
                <a:ea typeface="Microsoft YaHei"/>
                <a:cs typeface="Microsoft YaHei"/>
              </a:rPr>
              <a:t>STARFIRE SERIES  ·  © 2026 ESTY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星火三部曲 · 项目介绍</dc:title>
  <dc:subject>星火三部曲系列项目介绍</dc:subject>
  <dc:creator>Esty</dc:creator>
  <cp:keywords/>
  <dc:description>由 DSH 的 pptx 技能生成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